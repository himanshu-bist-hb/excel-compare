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>
        <p:scale>
          <a:sx n="100" d="100"/>
          <a:sy n="100" d="100"/>
        </p:scale>
        <p:origin x="-86" y="-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73152"/>
            <a:ext cx="11676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E35"/>
                </a:solidFill>
                <a:latin typeface="Calibri"/>
              </a:rPr>
              <a:t>Agent360  —  Insurance Agent Performance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475488"/>
            <a:ext cx="11676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590A0"/>
                </a:solidFill>
                <a:latin typeface="Calibri"/>
              </a:rPr>
              <a:t>End-to-end ML platform for clustering, tier-classification, GWP forecasting and outlier detection across 30+ agent performance KPIs.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11676888" cy="20116"/>
          </a:xfrm>
          <a:prstGeom prst="rect">
            <a:avLst/>
          </a:prstGeom>
          <a:solidFill>
            <a:srgbClr val="D8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786384"/>
            <a:ext cx="1993392" cy="274320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60704"/>
            <a:ext cx="1993392" cy="4352544"/>
          </a:xfrm>
          <a:prstGeom prst="rect">
            <a:avLst/>
          </a:prstGeom>
          <a:solidFill>
            <a:srgbClr val="F8F9FA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33856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500F"/>
                </a:solidFill>
                <a:latin typeface="Calibri"/>
              </a:rPr>
              <a:t>Business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Agents managed manually — no ML‑driven performance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7393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30+ KPIs with no unified ranking or tier‑classification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945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GWP forecasting disconnected from agent‑level performance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6151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No geographic drill‑down across states and districts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072384"/>
            <a:ext cx="1810512" cy="16459"/>
          </a:xfrm>
          <a:prstGeom prst="rect">
            <a:avLst/>
          </a:prstGeom>
          <a:solidFill>
            <a:srgbClr val="D8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3127248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500F"/>
                </a:solidFill>
                <a:latin typeface="Calibri"/>
              </a:rPr>
              <a:t>Key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No early‑warning for underperforming or outlier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6732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Tier assignment subjective — not data‑driven or 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8795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Top performers not identified for coaching &amp;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60857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Optimal cluster count chosen arbitrarily — no Elbow 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786384"/>
            <a:ext cx="3035808" cy="274320"/>
          </a:xfrm>
          <a:prstGeom prst="rect">
            <a:avLst/>
          </a:prstGeom>
          <a:solidFill>
            <a:srgbClr val="04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87168" y="822960"/>
            <a:ext cx="2889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Data Ingestion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1115568"/>
            <a:ext cx="14813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77440" y="1115568"/>
            <a:ext cx="50292" cy="1170432"/>
          </a:xfrm>
          <a:prstGeom prst="rect">
            <a:avLst/>
          </a:prstGeom>
          <a:solidFill>
            <a:srgbClr val="04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116128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7A9C"/>
                </a:solidFill>
                <a:latin typeface="Calibri"/>
              </a:rPr>
              <a:t>Agent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1389888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agent_id  /  state  /  district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channel  /  agency_size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primary_lob_focus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experience_years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1115568"/>
            <a:ext cx="14813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31920" y="1115568"/>
            <a:ext cx="50292" cy="1170432"/>
          </a:xfrm>
          <a:prstGeom prst="rect">
            <a:avLst/>
          </a:prstGeom>
          <a:solidFill>
            <a:srgbClr val="04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59" y="116128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7A9C"/>
                </a:solidFill>
                <a:latin typeface="Calibri"/>
              </a:rPr>
              <a:t>Performance KPIs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59" y="1389888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gwp_total  /  gwp_new_biz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conversion_ratio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nb_policy_count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quote_count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359152"/>
            <a:ext cx="14813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77440" y="2359152"/>
            <a:ext cx="50292" cy="1170432"/>
          </a:xfrm>
          <a:prstGeom prst="rect">
            <a:avLst/>
          </a:prstGeom>
          <a:solidFill>
            <a:srgbClr val="04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68880" y="240487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7A9C"/>
                </a:solidFill>
                <a:latin typeface="Calibri"/>
              </a:rPr>
              <a:t>Quality &amp; Retention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2633472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retention_rate  /  lapse_rate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business_quality_score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cross_sell_ratio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cancellation_rate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359152"/>
            <a:ext cx="14813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931920" y="2359152"/>
            <a:ext cx="50292" cy="1170432"/>
          </a:xfrm>
          <a:prstGeom prst="rect">
            <a:avLst/>
          </a:prstGeom>
          <a:solidFill>
            <a:srgbClr val="04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23359" y="2404872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7A9C"/>
                </a:solidFill>
                <a:latin typeface="Calibri"/>
              </a:rPr>
              <a:t>Financial &amp; 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59" y="2633472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commission_earned  /  rate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avg_premium_per_policy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rate_competitiveness_idx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‣  competitor_rate_index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41264" y="786384"/>
            <a:ext cx="2852928" cy="274320"/>
          </a:xfrm>
          <a:prstGeom prst="rect">
            <a:avLst/>
          </a:prstGeom>
          <a:solidFill>
            <a:srgbClr val="4A3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50992" y="822960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ML Engine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0879" y="1115568"/>
            <a:ext cx="131673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040878" y="1115568"/>
            <a:ext cx="50293" cy="987552"/>
          </a:xfrm>
          <a:prstGeom prst="rect">
            <a:avLst/>
          </a:prstGeom>
          <a:solidFill>
            <a:srgbClr val="4A3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19" y="116128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38B0"/>
                </a:solidFill>
                <a:latin typeface="Calibri"/>
              </a:rPr>
              <a:t>Pre-Processing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19" y="1389888"/>
            <a:ext cx="118871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 dirty="0" err="1">
                <a:solidFill>
                  <a:srgbClr val="445060"/>
                </a:solidFill>
                <a:latin typeface="Calibri"/>
              </a:rPr>
              <a:t>StandardScaler</a:t>
            </a:r>
            <a:r>
              <a:rPr sz="750" dirty="0">
                <a:solidFill>
                  <a:srgbClr val="445060"/>
                </a:solidFill>
                <a:latin typeface="Calibri"/>
              </a:rPr>
              <a:t>  (μ=0, σ=1)</a:t>
            </a:r>
          </a:p>
          <a:p>
            <a:pPr>
              <a:spcBef>
                <a:spcPts val="200"/>
              </a:spcBef>
            </a:pPr>
            <a:r>
              <a:rPr sz="750" dirty="0" err="1">
                <a:solidFill>
                  <a:srgbClr val="445060"/>
                </a:solidFill>
                <a:latin typeface="Calibri"/>
              </a:rPr>
              <a:t>SimpleImputer</a:t>
            </a:r>
            <a:r>
              <a:rPr sz="750" dirty="0">
                <a:solidFill>
                  <a:srgbClr val="445060"/>
                </a:solidFill>
                <a:latin typeface="Calibri"/>
              </a:rPr>
              <a:t>  (mean fill)</a:t>
            </a:r>
          </a:p>
          <a:p>
            <a:pPr>
              <a:spcBef>
                <a:spcPts val="200"/>
              </a:spcBef>
            </a:pPr>
            <a:r>
              <a:rPr sz="750" dirty="0">
                <a:solidFill>
                  <a:srgbClr val="445060"/>
                </a:solidFill>
                <a:latin typeface="Calibri"/>
              </a:rPr>
              <a:t>Auto numeric detection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1115568"/>
            <a:ext cx="137160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577840" y="1115568"/>
            <a:ext cx="50292" cy="987552"/>
          </a:xfrm>
          <a:prstGeom prst="rect">
            <a:avLst/>
          </a:prstGeom>
          <a:solidFill>
            <a:srgbClr val="4A3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69279" y="1161288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38B0"/>
                </a:solidFill>
                <a:latin typeface="Calibri"/>
              </a:rPr>
              <a:t>Elbow Method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79" y="1389888"/>
            <a:ext cx="12435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Sweep K = 2 → 10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Compute inertia per K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Auto knee-point detection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445060"/>
                </a:solidFill>
                <a:latin typeface="Calibri"/>
              </a:rPr>
              <a:t>Suggest optimal 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63470" y="2176272"/>
            <a:ext cx="2779776" cy="1554480"/>
          </a:xfrm>
          <a:prstGeom prst="rect">
            <a:avLst/>
          </a:prstGeom>
          <a:solidFill>
            <a:srgbClr val="0F1E35"/>
          </a:solidFill>
          <a:ln w="22860">
            <a:solidFill>
              <a:srgbClr val="E85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54909" y="218541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K-Means Clustering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54909" y="2633472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FC8"/>
                </a:solidFill>
                <a:latin typeface="Courier New"/>
              </a:rPr>
              <a:t>KMeans(n_clusters=K, n_init=10)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28061" y="2926080"/>
            <a:ext cx="2450592" cy="31089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82925" y="2962656"/>
            <a:ext cx="23591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Cluster Assignment  →  Tier Mapping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4909" y="3310128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0809A"/>
                </a:solidFill>
                <a:latin typeface="Calibri"/>
              </a:rPr>
              <a:t>random_state=42  |  StandardScaler normalised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63470" y="3797808"/>
            <a:ext cx="2819292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577840" y="3892296"/>
            <a:ext cx="50292" cy="822960"/>
          </a:xfrm>
          <a:prstGeom prst="rect">
            <a:avLst/>
          </a:prstGeom>
          <a:solidFill>
            <a:srgbClr val="B8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658547" y="3800855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B8740A"/>
                </a:solidFill>
                <a:latin typeface="Calibri"/>
              </a:rPr>
              <a:t>Tier Assignment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77597" y="4126992"/>
            <a:ext cx="26517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 dirty="0">
                <a:solidFill>
                  <a:srgbClr val="445060"/>
                </a:solidFill>
                <a:latin typeface="Calibri"/>
              </a:rPr>
              <a:t>Bronze  |  Silver  |  Gold</a:t>
            </a:r>
          </a:p>
          <a:p>
            <a:pPr>
              <a:spcBef>
                <a:spcPts val="200"/>
              </a:spcBef>
            </a:pPr>
            <a:r>
              <a:rPr sz="750" dirty="0">
                <a:solidFill>
                  <a:srgbClr val="445060"/>
                </a:solidFill>
                <a:latin typeface="Calibri"/>
              </a:rPr>
              <a:t>Diamond  |  Platinum</a:t>
            </a:r>
          </a:p>
          <a:p>
            <a:pPr>
              <a:spcBef>
                <a:spcPts val="200"/>
              </a:spcBef>
            </a:pPr>
            <a:r>
              <a:rPr sz="750" dirty="0">
                <a:solidFill>
                  <a:srgbClr val="445060"/>
                </a:solidFill>
                <a:latin typeface="Calibri"/>
              </a:rPr>
              <a:t>1 cluster = 1 unique tier (enforced)</a:t>
            </a:r>
          </a:p>
          <a:p>
            <a:pPr>
              <a:spcBef>
                <a:spcPts val="200"/>
              </a:spcBef>
            </a:pPr>
            <a:r>
              <a:rPr sz="750" dirty="0">
                <a:solidFill>
                  <a:srgbClr val="445060"/>
                </a:solidFill>
                <a:latin typeface="Calibri"/>
              </a:rPr>
              <a:t>Scales with K  (2 → 5+ tiers)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22208" y="786384"/>
            <a:ext cx="3410712" cy="274320"/>
          </a:xfrm>
          <a:prstGeom prst="rect">
            <a:avLst/>
          </a:prstGeom>
          <a:solidFill>
            <a:srgbClr val="1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31936" y="8229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22208" y="1060704"/>
            <a:ext cx="3410712" cy="237744"/>
          </a:xfrm>
          <a:prstGeom prst="rect">
            <a:avLst/>
          </a:prstGeom>
          <a:solidFill>
            <a:srgbClr val="EFF1F4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13648" y="1088136"/>
            <a:ext cx="2660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7A4A"/>
                </a:solidFill>
                <a:latin typeface="Calibri"/>
              </a:rPr>
              <a:t>Analysis Dashboard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274552" y="1088136"/>
            <a:ext cx="621792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283696" y="1097280"/>
            <a:ext cx="6126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A4454"/>
                </a:solidFill>
                <a:latin typeface="Calibri"/>
              </a:rPr>
              <a:t>Monthly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22208" y="1298448"/>
            <a:ext cx="3410712" cy="1162812"/>
          </a:xfrm>
          <a:prstGeom prst="rect">
            <a:avLst/>
          </a:prstGeom>
          <a:solidFill>
            <a:srgbClr val="FFFFFF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522208" y="1298448"/>
            <a:ext cx="50292" cy="1162812"/>
          </a:xfrm>
          <a:prstGeom prst="rect">
            <a:avLst/>
          </a:prstGeom>
          <a:solidFill>
            <a:srgbClr val="1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631936" y="1353312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Metrics by Tier  —  grouped bar charts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31936" y="164592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Top-10 agents per tier &amp; metric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31936" y="1938528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State / District geo drill-down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31936" y="2231136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Tier distribution &amp; total GWP stats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22208" y="2511552"/>
            <a:ext cx="3410712" cy="237744"/>
          </a:xfrm>
          <a:prstGeom prst="rect">
            <a:avLst/>
          </a:prstGeom>
          <a:solidFill>
            <a:srgbClr val="EFF1F4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613648" y="2538983"/>
            <a:ext cx="2660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7A4A"/>
                </a:solidFill>
                <a:latin typeface="Calibri"/>
              </a:rPr>
              <a:t>Forecast &amp; GWP Shock Analysis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274552" y="2538983"/>
            <a:ext cx="621792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283696" y="2548128"/>
            <a:ext cx="6126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A4454"/>
                </a:solidFill>
                <a:latin typeface="Calibri"/>
              </a:rPr>
              <a:t>On-Demand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2208" y="2749296"/>
            <a:ext cx="3410712" cy="1162812"/>
          </a:xfrm>
          <a:prstGeom prst="rect">
            <a:avLst/>
          </a:prstGeom>
          <a:solidFill>
            <a:srgbClr val="FFFFFF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522208" y="2749296"/>
            <a:ext cx="50292" cy="1162812"/>
          </a:xfrm>
          <a:prstGeom prst="rect">
            <a:avLst/>
          </a:prstGeom>
          <a:solidFill>
            <a:srgbClr val="1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631936" y="28041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Pearson feature-impact ranking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31936" y="3096767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Shock simulator  (Δ% any feature)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31936" y="3389376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Projected GWP via regression coef.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31936" y="3681983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Per-tier GWP delta breakdown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22208" y="3962399"/>
            <a:ext cx="3410712" cy="237744"/>
          </a:xfrm>
          <a:prstGeom prst="rect">
            <a:avLst/>
          </a:prstGeom>
          <a:solidFill>
            <a:srgbClr val="EFF1F4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613648" y="3989832"/>
            <a:ext cx="2660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7A4A"/>
                </a:solidFill>
                <a:latin typeface="Calibri"/>
              </a:rPr>
              <a:t>Outlier Detection Engine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274552" y="3989832"/>
            <a:ext cx="621792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1283696" y="3998975"/>
            <a:ext cx="6126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A4454"/>
                </a:solidFill>
                <a:latin typeface="Calibri"/>
              </a:rPr>
              <a:t>On-Demand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22208" y="4200144"/>
            <a:ext cx="3410712" cy="1162812"/>
          </a:xfrm>
          <a:prstGeom prst="rect">
            <a:avLst/>
          </a:prstGeom>
          <a:solidFill>
            <a:srgbClr val="FFFFFF"/>
          </a:solidFill>
          <a:ln w="508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522208" y="4200144"/>
            <a:ext cx="50292" cy="1162812"/>
          </a:xfrm>
          <a:prstGeom prst="rect">
            <a:avLst/>
          </a:prstGeom>
          <a:solidFill>
            <a:srgbClr val="1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631936" y="4255008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IQR method  —  non-parametric flagging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31936" y="4547616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Z-Score  |z| &gt; 2.8  threshold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31936" y="4840224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Per-agent outlier_count &amp; metric list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31936" y="5132832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060"/>
                </a:solidFill>
                <a:latin typeface="Calibri"/>
              </a:rPr>
              <a:t>•  Filter by tier, sorted by severity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5486400"/>
            <a:ext cx="12188952" cy="1298448"/>
          </a:xfrm>
          <a:prstGeom prst="rect">
            <a:avLst/>
          </a:prstGeom>
          <a:solidFill>
            <a:srgbClr val="0F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6" name="Rectangle 115"/>
          <p:cNvSpPr/>
          <p:nvPr/>
        </p:nvSpPr>
        <p:spPr>
          <a:xfrm>
            <a:off x="0" y="5486400"/>
            <a:ext cx="12188952" cy="34747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28016" y="5724144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 Business
Outcomes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318042" y="5724144"/>
            <a:ext cx="1609344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9" name="Rectangle 118"/>
          <p:cNvSpPr/>
          <p:nvPr/>
        </p:nvSpPr>
        <p:spPr>
          <a:xfrm>
            <a:off x="1318042" y="5724144"/>
            <a:ext cx="1609344" cy="5943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939834" y="5806440"/>
            <a:ext cx="365760" cy="237744"/>
          </a:xfrm>
          <a:prstGeom prst="ellipse">
            <a:avLst/>
          </a:prstGeom>
          <a:solidFill>
            <a:srgbClr val="E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939834" y="581558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500F"/>
                </a:solidFill>
                <a:latin typeface="Calibri"/>
              </a:rPr>
              <a:t>ML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72906" y="6071616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E35"/>
                </a:solidFill>
                <a:latin typeface="Calibri"/>
              </a:rPr>
              <a:t>Data-Driven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72906" y="623620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590A0"/>
                </a:solidFill>
                <a:latin typeface="Calibri"/>
              </a:rPr>
              <a:t>Agent Segmentation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129860" y="5724144"/>
            <a:ext cx="1609344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129860" y="5724144"/>
            <a:ext cx="1609344" cy="5943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751652" y="5806440"/>
            <a:ext cx="365760" cy="237744"/>
          </a:xfrm>
          <a:prstGeom prst="ellipse">
            <a:avLst/>
          </a:prstGeom>
          <a:solidFill>
            <a:srgbClr val="E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751652" y="581558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500F"/>
                </a:solidFill>
                <a:latin typeface="Calibri"/>
              </a:rPr>
              <a:t>T5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184724" y="6071616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E35"/>
                </a:solidFill>
                <a:latin typeface="Calibri"/>
              </a:rPr>
              <a:t>5-Tier Classification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184724" y="623620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590A0"/>
                </a:solidFill>
                <a:latin typeface="Calibri"/>
              </a:rPr>
              <a:t>Bronze → Platinum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41678" y="5724144"/>
            <a:ext cx="1609344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941678" y="5724144"/>
            <a:ext cx="1609344" cy="5943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5563470" y="5806440"/>
            <a:ext cx="365760" cy="237744"/>
          </a:xfrm>
          <a:prstGeom prst="ellipse">
            <a:avLst/>
          </a:prstGeom>
          <a:solidFill>
            <a:srgbClr val="E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563470" y="5815583"/>
            <a:ext cx="44109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E8500F"/>
                </a:solidFill>
                <a:latin typeface="Calibri"/>
              </a:rPr>
              <a:t>GWP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996542" y="6071616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E35"/>
                </a:solidFill>
                <a:latin typeface="Calibri"/>
              </a:rPr>
              <a:t>GWP Shock Simulator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996542" y="623620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590A0"/>
                </a:solidFill>
                <a:latin typeface="Calibri"/>
              </a:rPr>
              <a:t>Revenue Impact Analysis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53497" y="5724144"/>
            <a:ext cx="1609344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753497" y="5724144"/>
            <a:ext cx="1609344" cy="5943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375289" y="5806440"/>
            <a:ext cx="365760" cy="237744"/>
          </a:xfrm>
          <a:prstGeom prst="ellipse">
            <a:avLst/>
          </a:prstGeom>
          <a:solidFill>
            <a:srgbClr val="E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375289" y="581558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500F"/>
                </a:solidFill>
                <a:latin typeface="Calibri"/>
              </a:rPr>
              <a:t>IQR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08361" y="6071616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E35"/>
                </a:solidFill>
                <a:latin typeface="Calibri"/>
              </a:rPr>
              <a:t>Dual Outlier Detection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08361" y="623620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590A0"/>
                </a:solidFill>
                <a:latin typeface="Calibri"/>
              </a:rPr>
              <a:t>IQR + Z-Score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65315" y="5724144"/>
            <a:ext cx="1609344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8565315" y="5724144"/>
            <a:ext cx="1609344" cy="5943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9187107" y="5806440"/>
            <a:ext cx="365760" cy="237744"/>
          </a:xfrm>
          <a:prstGeom prst="ellipse">
            <a:avLst/>
          </a:prstGeom>
          <a:solidFill>
            <a:srgbClr val="E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187107" y="581558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500F"/>
                </a:solidFill>
                <a:latin typeface="Calibri"/>
              </a:rPr>
              <a:t>GEO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620179" y="6071616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E35"/>
                </a:solidFill>
                <a:latin typeface="Calibri"/>
              </a:rPr>
              <a:t>Geographic Analytics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620179" y="623620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590A0"/>
                </a:solidFill>
                <a:latin typeface="Calibri"/>
              </a:rPr>
              <a:t>State / District Drill-Down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377133" y="5724144"/>
            <a:ext cx="1609344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0377133" y="5724144"/>
            <a:ext cx="1609344" cy="59436"/>
          </a:xfrm>
          <a:prstGeom prst="rect">
            <a:avLst/>
          </a:prstGeom>
          <a:solidFill>
            <a:srgbClr val="E85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0998925" y="5806440"/>
            <a:ext cx="365760" cy="237744"/>
          </a:xfrm>
          <a:prstGeom prst="ellipse">
            <a:avLst/>
          </a:prstGeom>
          <a:solidFill>
            <a:srgbClr val="E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0998925" y="5815583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500F"/>
                </a:solidFill>
                <a:latin typeface="Calibri"/>
              </a:rPr>
              <a:t>AZ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431997" y="6071616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E35"/>
                </a:solidFill>
                <a:latin typeface="Calibri"/>
              </a:rPr>
              <a:t>Azure Cloud Hosted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31997" y="623620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590A0"/>
                </a:solidFill>
                <a:latin typeface="Calibri"/>
              </a:rPr>
              <a:t>App Service + Blob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465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Bist</cp:lastModifiedBy>
  <cp:revision>3</cp:revision>
  <dcterms:created xsi:type="dcterms:W3CDTF">2013-01-27T09:14:16Z</dcterms:created>
  <dcterms:modified xsi:type="dcterms:W3CDTF">2026-04-16T05:52:10Z</dcterms:modified>
  <cp:category/>
</cp:coreProperties>
</file>